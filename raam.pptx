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Multi-card &amp; P2P Opportunity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0" y="640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for Investment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customer balance and spend patterns by comparing single-card and multi-card customers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&amp; History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206240" cy="306324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618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2252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— Switched off on Triumph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not looking at existing on-us data — breaching Risk Policy. Cardholder ID merging in Triumph led to incorrect advanced capital modelling at customer level.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" y="1901952"/>
            <a:ext cx="387705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7510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193852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2020–2021 — Mobilised, then pivoted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mobilised for Avios &amp; future partnerships. Pivoted to deliver across NGCB and Triumph. Avios launch supported through PTP only.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" y="2578608"/>
            <a:ext cx="387705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5176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61518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— Deprioritised again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GFED capacity consumed by NGCB. Multi-card would not be delivered for Arrow contractual date — project pivoted to Account Swap journey.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1792" y="3255264"/>
            <a:ext cx="387705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2841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2688" y="32918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Sierra creates the window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programme drives requirements to support multi-card holding across Tesco Bank and Barclaycard brands. Key capabilities being built can be leveraged to re-enable same-brand multi-card.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892040" y="841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legacy data tells us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892040" y="1143000"/>
            <a:ext cx="3931920" cy="457200"/>
          </a:xfrm>
          <a:prstGeom prst="rect">
            <a:avLst/>
          </a:prstGeom>
          <a:solidFill>
            <a:srgbClr val="E8F7F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02920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7.5M Barclaycard customers still hold multiple cards from the pre-2018 era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892040" y="16916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On-us Balance &amp; Spend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892040" y="1901952"/>
            <a:ext cx="3931920" cy="237744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24" name="Text 18"/>
          <p:cNvSpPr/>
          <p:nvPr/>
        </p:nvSpPr>
        <p:spPr>
          <a:xfrm>
            <a:off x="4892040" y="1901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897880" y="1901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6720840" y="1901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7543800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892040" y="2139696"/>
            <a:ext cx="3931920" cy="237744"/>
          </a:xfrm>
          <a:prstGeom prst="rect">
            <a:avLst/>
          </a:prstGeom>
          <a:solidFill>
            <a:srgbClr val="E8F7FD"/>
          </a:solidFill>
          <a:ln/>
        </p:spPr>
      </p:sp>
      <p:sp>
        <p:nvSpPr>
          <p:cNvPr id="29" name="Text 23"/>
          <p:cNvSpPr/>
          <p:nvPr/>
        </p:nvSpPr>
        <p:spPr>
          <a:xfrm>
            <a:off x="4892040" y="2139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897880" y="21396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£0.4K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720840" y="21396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£0.7K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7543800" y="2139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~2x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4892040" y="2377440"/>
            <a:ext cx="39319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28"/>
          <p:cNvSpPr/>
          <p:nvPr/>
        </p:nvSpPr>
        <p:spPr>
          <a:xfrm>
            <a:off x="4892040" y="23774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5897880" y="23774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£1.4K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6720840" y="23774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£2.9K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7543800" y="2377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~2x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4892040" y="2615184"/>
            <a:ext cx="3931920" cy="237744"/>
          </a:xfrm>
          <a:prstGeom prst="rect">
            <a:avLst/>
          </a:prstGeom>
          <a:solidFill>
            <a:srgbClr val="E8F7FD"/>
          </a:solidFill>
          <a:ln/>
        </p:spPr>
      </p:sp>
      <p:sp>
        <p:nvSpPr>
          <p:cNvPr id="39" name="Text 33"/>
          <p:cNvSpPr/>
          <p:nvPr/>
        </p:nvSpPr>
        <p:spPr>
          <a:xfrm>
            <a:off x="4892040" y="2615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IEL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5897880" y="26151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£0.6K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720840" y="26151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£1.6K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7543800" y="26151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~2.5x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4892040" y="29077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Multi-card customers have ~2x higher average spends and balance on-us and ~1K higher IEL vs single-card.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4892040" y="31821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Share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4892040" y="3383280"/>
            <a:ext cx="3931920" cy="219456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46" name="Text 40"/>
          <p:cNvSpPr/>
          <p:nvPr/>
        </p:nvSpPr>
        <p:spPr>
          <a:xfrm>
            <a:off x="4892040" y="3383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5897880" y="3383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6720840" y="3383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7543800" y="33832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4892040" y="3602736"/>
            <a:ext cx="3931920" cy="219456"/>
          </a:xfrm>
          <a:prstGeom prst="rect">
            <a:avLst/>
          </a:prstGeom>
          <a:solidFill>
            <a:srgbClr val="E8F7FD"/>
          </a:solidFill>
          <a:ln/>
        </p:spPr>
      </p:sp>
      <p:sp>
        <p:nvSpPr>
          <p:cNvPr id="51" name="Text 45"/>
          <p:cNvSpPr/>
          <p:nvPr/>
        </p:nvSpPr>
        <p:spPr>
          <a:xfrm>
            <a:off x="4892040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Share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5897880" y="36027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6720840" y="36027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7543800" y="36027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+9pp</a:t>
            </a:r>
            <a:endParaRPr lang="en-US" sz="800" dirty="0"/>
          </a:p>
        </p:txBody>
      </p:sp>
      <p:sp>
        <p:nvSpPr>
          <p:cNvPr id="55" name="Shape 49"/>
          <p:cNvSpPr/>
          <p:nvPr/>
        </p:nvSpPr>
        <p:spPr>
          <a:xfrm>
            <a:off x="4892040" y="3822192"/>
            <a:ext cx="393192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0"/>
          <p:cNvSpPr/>
          <p:nvPr/>
        </p:nvSpPr>
        <p:spPr>
          <a:xfrm>
            <a:off x="4892040" y="38221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Share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5897880" y="3822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00" dirty="0"/>
          </a:p>
        </p:txBody>
      </p:sp>
      <p:sp>
        <p:nvSpPr>
          <p:cNvPr id="58" name="Text 52"/>
          <p:cNvSpPr/>
          <p:nvPr/>
        </p:nvSpPr>
        <p:spPr>
          <a:xfrm>
            <a:off x="6720840" y="3822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7543800" y="3822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+7pp</a:t>
            </a:r>
            <a:endParaRPr lang="en-US" sz="800" dirty="0"/>
          </a:p>
        </p:txBody>
      </p:sp>
      <p:sp>
        <p:nvSpPr>
          <p:cNvPr id="60" name="Shape 54"/>
          <p:cNvSpPr/>
          <p:nvPr/>
        </p:nvSpPr>
        <p:spPr>
          <a:xfrm>
            <a:off x="457200" y="4297680"/>
            <a:ext cx="8366760" cy="438912"/>
          </a:xfrm>
          <a:prstGeom prst="rect">
            <a:avLst/>
          </a:prstGeom>
          <a:solidFill>
            <a:srgbClr val="00395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Text 55"/>
          <p:cNvSpPr/>
          <p:nvPr/>
        </p:nvSpPr>
        <p:spPr>
          <a:xfrm>
            <a:off x="640080" y="429768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multi-card is a proven strategy to increase wallet share across existing Barclaycard customers. Sierra infrastructure makes re-enabling feasible now.</a:t>
            </a:r>
            <a:endParaRPr lang="en-US" sz="1000" dirty="0"/>
          </a:p>
        </p:txBody>
      </p:sp>
      <p:sp>
        <p:nvSpPr>
          <p:cNvPr id="62" name="Text 56"/>
          <p:cNvSpPr/>
          <p:nvPr/>
        </p:nvSpPr>
        <p:spPr>
          <a:xfrm>
            <a:off x="457200" y="4828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– 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Estimating the Multi-card Base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 currently has a single-card policy. Customers flowing in from Internal and Open Market channels get rejected for another card since they already hold a Barclaycard. Multi-card potential across these rejected customers can be estimated as follows: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37744" cy="237744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0058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Barclays Internal Channels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237744" cy="237744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66360" y="10058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9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Market Channels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53312"/>
            <a:ext cx="4206240" cy="19659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" y="13990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by multiplying: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3504" y="15910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rejections due to </a:t>
            </a:r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Barclaycard holding (DV95 and 96)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" y="1792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1828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3504" y="20848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rejected customers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" y="22677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3504" y="2953512"/>
            <a:ext cx="3913632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95351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 Incremental Accounts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467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10yr PBT (Imp) Uplift = </a:t>
            </a:r>
            <a:pPr algn="ctr" indent="0" marL="0">
              <a:buNone/>
            </a:pPr>
            <a:r>
              <a:rPr lang="en-US" sz="9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£7.6M</a:t>
            </a:r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Incremental IEL = </a:t>
            </a:r>
            <a:pPr algn="ctr" indent="0" marL="0">
              <a:buNone/>
            </a:pPr>
            <a:r>
              <a:rPr lang="en-US" sz="9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1353312"/>
            <a:ext cx="3977640" cy="1965960"/>
          </a:xfrm>
          <a:prstGeom prst="rect">
            <a:avLst/>
          </a:prstGeom>
          <a:solidFill>
            <a:srgbClr val="F4F6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13990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by multiplying: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92624" y="1591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rejected due to CAS rules during </a:t>
            </a:r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 suppression test</a:t>
            </a:r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2025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92624" y="1792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1.59M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06440" y="1828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92624" y="20848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rejected customers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92624" y="22677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92624" y="2953512"/>
            <a:ext cx="3675888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992624" y="2907792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447K Incremental Accounts</a:t>
            </a:r>
            <a:endParaRPr lang="en-US" sz="110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(~156K — applying Product Choice Factor*)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34670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10yr PBT (Imp) Uplift = </a:t>
            </a:r>
            <a:pPr algn="ctr" indent="0" marL="0">
              <a:buNone/>
            </a:pPr>
            <a:r>
              <a:rPr lang="en-US" sz="9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£58M</a:t>
            </a:r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Incremental IEL = </a:t>
            </a:r>
            <a:pPr algn="ctr" indent="0" marL="0">
              <a:buNone/>
            </a:pPr>
            <a:r>
              <a:rPr lang="en-US" sz="9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£156M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429000"/>
            <a:ext cx="8366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Multi-card Overall Opportunity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8366760" cy="457200"/>
          </a:xfrm>
          <a:prstGeom prst="rect">
            <a:avLst/>
          </a:prstGeom>
          <a:solidFill>
            <a:srgbClr val="001F3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611880"/>
            <a:ext cx="836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168K Incremental Accounts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10yr PBT (Imp) Uplift = </a:t>
            </a:r>
            <a:pPr algn="ctr" indent="0" marL="0">
              <a:buNone/>
            </a:pPr>
            <a:r>
              <a:rPr lang="en-US" sz="14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£66M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Incremental IEL = </a:t>
            </a:r>
            <a:pPr algn="ctr" indent="0" marL="0">
              <a:buNone/>
            </a:pPr>
            <a:r>
              <a:rPr lang="en-US" sz="14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£168M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42062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9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44398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a pilot working in close collaboration with the Product team. Enabling multi-card requires building detailed eligibility rules and significant tech work before go-live — this business case seeks the investment to begin that work.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681728"/>
            <a:ext cx="8321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*Product Choice Factor (35%): </a:t>
            </a:r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Customers' likelihood to take a 2nd Barclays product, weighted by segment uptake — Forward (88%), Plat (14%), Rewards (74%). Applied to Open Market only.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57200" y="481888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based on pre-filter suppression test (2024/25). Internal channels: Internet BK, Barclays Mobile (BMB). Open Market: Clearscore, MSM, MSE etc. This is a reference sizing — actual sizing will require deep-dive into risk, commercial exclusions, and customer needs.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57200" y="4983480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– Internal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Suggested Additions — Slide 1 (Context &amp; Evidence)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321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multi-card is blocked today: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suppression points exist — pre-filter before full quote (Open Market only) and internal evaluation rules DV95/96 (both channels). Internal channel fix is simpler; open market requires both layers lifted.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inaction: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Barclaycard customers have been unable to apply for an additional product for 7 years. Every year the policy remains, estimated volumes of customers are turned away at the door.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landscape: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Amex, HSBC, NatWest or others already allow customers to hold multiple cards, Barclays is the outlier — not the norm.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attrition signal: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 on rejected customers who subsequently closed their Barclaycard or reduced spend would quantify the damage of the current policy.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connection: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references P2P — a line connecting multi-card enablement to product-to-product migration or swap broadens the strategic relevance.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redistribution, not additional exposure: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multi-card with redistributable credit limits means total customer exposure stays flat. Two cards, same risk envelope. Fundamentally different from "give them more credit."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 diversification: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 dominates at 68% of the base. Multi-card creates a natural path for Plat holders to add Rewards or Forward, reducing product concentration risk within the customer.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lever: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holding two Barclays products is structurally harder to attrit. Any data on attrition rates for legacy multi-card vs single-card holders would strengthen this.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cost absorption: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multi-card piggybacks on Sierra's tech build already being incurred for Tesco Bank cross-brand. Incremental cost to enable same-brand is materially lower than building from scratch — changes the investment calculus.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– Internal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39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Suggested Additions — Sizing &amp; Recommendation (Slide 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321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requirements — what the investment funds: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 design with Product, tech build to lift suppression in both channels, risk framework for multi-card exposure at customer level, MI and monitoring for pilot cohort.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channels first (one rule change, no pre-filter, manageable 12K volume), open market second (pre-filter + eval changes, aggregator coordination, larger volume). Sequencing reflects operational complexity, not just scale.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range: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conversion is 10% lower or PCF is 25% instead of 35%. A range (e.g. £45M–£66M PBT) makes the central estimate more credible, not less.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precedent: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internal example of a suppression lift or policy reversal that delivered well, even in a different product, gives the ask a track record.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underwriting remains intact: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multi-card only removes the blanket exclusion — all credit policy, affordability checks, and risk appetite rules continue to apply to every application.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KPIs — define success upfront: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accounts booked, average IEL per multi-card customer, early delinquency rates vs single-card cohort, NPS or complaint rates. Measurement framework alongside the ask.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phasing in quarters — internal channel lift (config + eligibility rules), open market (aggregator integration). Anchors CEO expectations on delivery timeline.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Risk, Tech, potentially Legal/Compliance for conduct implications. Signals the ask is "fund and convene these teams," not "fund a vague initiative."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is reversible: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can be switched off. If multi-card doesn't perform, revert with no lasting policy change. Upside is £66M over 10 years; downside is a few months of pilot cost. Asymmetry is favourable.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– Internal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Multi-card &amp; P2P Opportunity – Business Case</dc:title>
  <dc:subject>PptxGenJS Presentation</dc:subject>
  <dc:creator>Abhi</dc:creator>
  <cp:lastModifiedBy>Abhi</cp:lastModifiedBy>
  <cp:revision>1</cp:revision>
  <dcterms:created xsi:type="dcterms:W3CDTF">2026-03-11T01:45:47Z</dcterms:created>
  <dcterms:modified xsi:type="dcterms:W3CDTF">2026-03-11T01:45:47Z</dcterms:modified>
</cp:coreProperties>
</file>